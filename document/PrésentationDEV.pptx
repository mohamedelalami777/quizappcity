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</p:sldIdLst>
  <p:sldSz cx="18288000" cy="10287000"/>
  <p:notesSz cx="6858000" cy="9144000"/>
  <p:embeddedFontLst>
    <p:embeddedFont>
      <p:font typeface="Gotham" panose="020B0604020202020204" charset="0"/>
      <p:regular r:id="rId11"/>
    </p:embeddedFont>
    <p:embeddedFont>
      <p:font typeface="Gotham Bold" panose="020B0604020202020204" charset="0"/>
      <p:regular r:id="rId12"/>
    </p:embeddedFont>
    <p:embeddedFont>
      <p:font typeface="Jaturat Bold" panose="020B0604020202020204" charset="-34"/>
      <p:regular r:id="rId13"/>
    </p:embeddedFont>
    <p:embeddedFont>
      <p:font typeface="League Spartan" panose="020B0604020202020204" charset="0"/>
      <p:regular r:id="rId14"/>
    </p:embeddedFont>
    <p:embeddedFont>
      <p:font typeface="Open Sans 1" panose="020B0604020202020204" charset="0"/>
      <p:regular r:id="rId15"/>
    </p:embeddedFont>
    <p:embeddedFont>
      <p:font typeface="Open Sans 1 Bold" panose="020B0604020202020204" charset="0"/>
      <p:regular r:id="rId16"/>
    </p:embeddedFont>
    <p:embeddedFont>
      <p:font typeface="Open Sans 2 Bold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802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30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76029" y="5953191"/>
            <a:ext cx="5445866" cy="5248453"/>
          </a:xfrm>
          <a:custGeom>
            <a:avLst/>
            <a:gdLst/>
            <a:ahLst/>
            <a:cxnLst/>
            <a:rect l="l" t="t" r="r" b="b"/>
            <a:pathLst>
              <a:path w="5445866" h="5248453">
                <a:moveTo>
                  <a:pt x="0" y="0"/>
                </a:moveTo>
                <a:lnTo>
                  <a:pt x="5445866" y="0"/>
                </a:lnTo>
                <a:lnTo>
                  <a:pt x="5445866" y="5248453"/>
                </a:lnTo>
                <a:lnTo>
                  <a:pt x="0" y="52484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" name="Freeform 3"/>
          <p:cNvSpPr/>
          <p:nvPr/>
        </p:nvSpPr>
        <p:spPr>
          <a:xfrm>
            <a:off x="13814231" y="5326912"/>
            <a:ext cx="5649798" cy="5747993"/>
          </a:xfrm>
          <a:custGeom>
            <a:avLst/>
            <a:gdLst/>
            <a:ahLst/>
            <a:cxnLst/>
            <a:rect l="l" t="t" r="r" b="b"/>
            <a:pathLst>
              <a:path w="5649798" h="5747993">
                <a:moveTo>
                  <a:pt x="0" y="0"/>
                </a:moveTo>
                <a:lnTo>
                  <a:pt x="5649798" y="0"/>
                </a:lnTo>
                <a:lnTo>
                  <a:pt x="5649798" y="5747993"/>
                </a:lnTo>
                <a:lnTo>
                  <a:pt x="0" y="57479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4" name="Freeform 4"/>
          <p:cNvSpPr/>
          <p:nvPr/>
        </p:nvSpPr>
        <p:spPr>
          <a:xfrm>
            <a:off x="4021509" y="8243155"/>
            <a:ext cx="4545909" cy="4528862"/>
          </a:xfrm>
          <a:custGeom>
            <a:avLst/>
            <a:gdLst/>
            <a:ahLst/>
            <a:cxnLst/>
            <a:rect l="l" t="t" r="r" b="b"/>
            <a:pathLst>
              <a:path w="4545909" h="4528862">
                <a:moveTo>
                  <a:pt x="0" y="0"/>
                </a:moveTo>
                <a:lnTo>
                  <a:pt x="4545909" y="0"/>
                </a:lnTo>
                <a:lnTo>
                  <a:pt x="4545909" y="4528862"/>
                </a:lnTo>
                <a:lnTo>
                  <a:pt x="0" y="45288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5" name="Freeform 5"/>
          <p:cNvSpPr/>
          <p:nvPr/>
        </p:nvSpPr>
        <p:spPr>
          <a:xfrm>
            <a:off x="8567418" y="7781058"/>
            <a:ext cx="5325817" cy="5453055"/>
          </a:xfrm>
          <a:custGeom>
            <a:avLst/>
            <a:gdLst/>
            <a:ahLst/>
            <a:cxnLst/>
            <a:rect l="l" t="t" r="r" b="b"/>
            <a:pathLst>
              <a:path w="5325817" h="5453055">
                <a:moveTo>
                  <a:pt x="0" y="0"/>
                </a:moveTo>
                <a:lnTo>
                  <a:pt x="5325818" y="0"/>
                </a:lnTo>
                <a:lnTo>
                  <a:pt x="5325818" y="5453055"/>
                </a:lnTo>
                <a:lnTo>
                  <a:pt x="0" y="54530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3247566" y="2651994"/>
            <a:ext cx="11792868" cy="2705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6999" b="1" spc="-34">
                <a:solidFill>
                  <a:srgbClr val="F9F9F9"/>
                </a:solidFill>
                <a:latin typeface="Jaturat Bold"/>
                <a:ea typeface="Jaturat Bold"/>
                <a:cs typeface="Jaturat Bold"/>
                <a:sym typeface="Jaturat Bold"/>
              </a:rPr>
              <a:t>PRÉSENTATION </a:t>
            </a:r>
          </a:p>
          <a:p>
            <a:pPr algn="ctr">
              <a:lnSpc>
                <a:spcPts val="6299"/>
              </a:lnSpc>
            </a:pPr>
            <a:r>
              <a:rPr lang="en-US" sz="6999" b="1" spc="-34">
                <a:solidFill>
                  <a:srgbClr val="F9F9F9"/>
                </a:solidFill>
                <a:latin typeface="Jaturat Bold"/>
                <a:ea typeface="Jaturat Bold"/>
                <a:cs typeface="Jaturat Bold"/>
                <a:sym typeface="Jaturat Bold"/>
              </a:rPr>
              <a:t>QUIZ CITY APP</a:t>
            </a:r>
          </a:p>
          <a:p>
            <a:pPr algn="ctr">
              <a:lnSpc>
                <a:spcPts val="6299"/>
              </a:lnSpc>
            </a:pPr>
            <a:endParaRPr lang="en-US" sz="6999" b="1" spc="-34">
              <a:solidFill>
                <a:srgbClr val="F9F9F9"/>
              </a:solidFill>
              <a:latin typeface="Jaturat Bold"/>
              <a:ea typeface="Jaturat Bold"/>
              <a:cs typeface="Jaturat Bold"/>
              <a:sym typeface="Jaturat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1719319" y="1028700"/>
            <a:ext cx="3441469" cy="4114800"/>
          </a:xfrm>
          <a:custGeom>
            <a:avLst/>
            <a:gdLst/>
            <a:ahLst/>
            <a:cxnLst/>
            <a:rect l="l" t="t" r="r" b="b"/>
            <a:pathLst>
              <a:path w="3441469" h="4114800">
                <a:moveTo>
                  <a:pt x="0" y="0"/>
                </a:moveTo>
                <a:lnTo>
                  <a:pt x="3441469" y="0"/>
                </a:lnTo>
                <a:lnTo>
                  <a:pt x="344146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8" name="Freeform 8"/>
          <p:cNvSpPr/>
          <p:nvPr/>
        </p:nvSpPr>
        <p:spPr>
          <a:xfrm flipH="1">
            <a:off x="16565850" y="793062"/>
            <a:ext cx="3441469" cy="4114800"/>
          </a:xfrm>
          <a:custGeom>
            <a:avLst/>
            <a:gdLst/>
            <a:ahLst/>
            <a:cxnLst/>
            <a:rect l="l" t="t" r="r" b="b"/>
            <a:pathLst>
              <a:path w="3441469" h="4114800">
                <a:moveTo>
                  <a:pt x="3441469" y="0"/>
                </a:moveTo>
                <a:lnTo>
                  <a:pt x="0" y="0"/>
                </a:lnTo>
                <a:lnTo>
                  <a:pt x="0" y="4114800"/>
                </a:lnTo>
                <a:lnTo>
                  <a:pt x="3441469" y="4114800"/>
                </a:lnTo>
                <a:lnTo>
                  <a:pt x="3441469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259941" y="8644093"/>
            <a:ext cx="5239663" cy="1366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37"/>
              </a:lnSpc>
            </a:pPr>
            <a:r>
              <a:rPr lang="en-US" sz="3537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Réalisé par :                                                </a:t>
            </a:r>
          </a:p>
          <a:p>
            <a:pPr algn="ctr">
              <a:lnSpc>
                <a:spcPts val="3537"/>
              </a:lnSpc>
            </a:pPr>
            <a:r>
              <a:rPr lang="en-US" sz="3537" b="1">
                <a:solidFill>
                  <a:srgbClr val="FFFFFF"/>
                </a:solidFill>
                <a:latin typeface="Open Sans 2 Bold"/>
                <a:ea typeface="Open Sans 2 Bold"/>
                <a:cs typeface="Open Sans 2 Bold"/>
                <a:sym typeface="Open Sans 2 Bold"/>
              </a:rPr>
              <a:t>EL ALAMI Mohamed                         </a:t>
            </a:r>
          </a:p>
          <a:p>
            <a:pPr algn="ctr">
              <a:lnSpc>
                <a:spcPts val="3537"/>
              </a:lnSpc>
            </a:pPr>
            <a:endParaRPr lang="en-US" sz="3537" b="1">
              <a:solidFill>
                <a:srgbClr val="FFFFFF"/>
              </a:solidFill>
              <a:latin typeface="Open Sans 2 Bold"/>
              <a:ea typeface="Open Sans 2 Bold"/>
              <a:cs typeface="Open Sans 2 Bold"/>
              <a:sym typeface="Open Sans 2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3466851" y="8293608"/>
            <a:ext cx="4682252" cy="1862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6"/>
              </a:lnSpc>
              <a:spcBef>
                <a:spcPct val="0"/>
              </a:spcBef>
            </a:pPr>
            <a:r>
              <a:rPr lang="en-US" sz="354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Année universitaire :</a:t>
            </a:r>
          </a:p>
          <a:p>
            <a:pPr algn="ctr">
              <a:lnSpc>
                <a:spcPts val="4956"/>
              </a:lnSpc>
              <a:spcBef>
                <a:spcPct val="0"/>
              </a:spcBef>
            </a:pPr>
            <a:r>
              <a:rPr lang="en-US" sz="354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2025 / 2026</a:t>
            </a:r>
          </a:p>
          <a:p>
            <a:pPr algn="ctr">
              <a:lnSpc>
                <a:spcPts val="4956"/>
              </a:lnSpc>
              <a:spcBef>
                <a:spcPct val="0"/>
              </a:spcBef>
            </a:pPr>
            <a:endParaRPr lang="en-US" sz="3540" b="1">
              <a:solidFill>
                <a:srgbClr val="FFFFFF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294464" y="8284083"/>
            <a:ext cx="5993249" cy="13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b="1" spc="-7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Encadré par : </a:t>
            </a:r>
          </a:p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899" b="1" spc="-7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BOUSMAH MOHAMMED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589516" y="5090064"/>
            <a:ext cx="10587979" cy="106871"/>
            <a:chOff x="0" y="0"/>
            <a:chExt cx="2788604" cy="2814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88604" cy="28147"/>
            </a:xfrm>
            <a:custGeom>
              <a:avLst/>
              <a:gdLst/>
              <a:ahLst/>
              <a:cxnLst/>
              <a:rect l="l" t="t" r="r" b="b"/>
              <a:pathLst>
                <a:path w="2788604" h="28147">
                  <a:moveTo>
                    <a:pt x="0" y="0"/>
                  </a:moveTo>
                  <a:lnTo>
                    <a:pt x="2788604" y="0"/>
                  </a:lnTo>
                  <a:lnTo>
                    <a:pt x="2788604" y="28147"/>
                  </a:lnTo>
                  <a:lnTo>
                    <a:pt x="0" y="28147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88604" cy="6624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7295435" y="2432052"/>
            <a:ext cx="8498674" cy="6850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3200" spc="-6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Introduction</a:t>
            </a:r>
          </a:p>
          <a:p>
            <a:pPr algn="l">
              <a:lnSpc>
                <a:spcPts val="7840"/>
              </a:lnSpc>
            </a:pPr>
            <a:r>
              <a:rPr lang="en-US" sz="3200" spc="-6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Projet</a:t>
            </a:r>
            <a:endParaRPr lang="en-US" sz="3200" spc="-64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Architecture du </a:t>
            </a:r>
            <a:r>
              <a:rPr lang="en-US" sz="3200" spc="-6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projet</a:t>
            </a:r>
            <a:endParaRPr lang="en-US" sz="3200" spc="-64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7840"/>
              </a:lnSpc>
            </a:pPr>
            <a:r>
              <a:rPr lang="en-US" sz="3200" spc="-6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UML</a:t>
            </a:r>
          </a:p>
          <a:p>
            <a:pPr algn="l">
              <a:lnSpc>
                <a:spcPts val="7840"/>
              </a:lnSpc>
            </a:pPr>
            <a:r>
              <a:rPr lang="en-US" sz="3200" spc="-64" dirty="0" err="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Réalisation</a:t>
            </a:r>
            <a:r>
              <a:rPr lang="en-US" sz="3200" spc="-6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</a:t>
            </a:r>
          </a:p>
          <a:p>
            <a:pPr>
              <a:lnSpc>
                <a:spcPts val="7840"/>
              </a:lnSpc>
            </a:pPr>
            <a:r>
              <a:rPr lang="en-US" sz="3200" spc="-64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Conclusion</a:t>
            </a:r>
          </a:p>
          <a:p>
            <a:pPr algn="l">
              <a:lnSpc>
                <a:spcPts val="7840"/>
              </a:lnSpc>
            </a:pPr>
            <a:endParaRPr lang="en-US" sz="3200" spc="-64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999356" y="2451102"/>
            <a:ext cx="774315" cy="6797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816"/>
              </a:lnSpc>
            </a:pPr>
            <a:r>
              <a:rPr lang="en-US" sz="3190" spc="-63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3</a:t>
            </a:r>
          </a:p>
          <a:p>
            <a:pPr algn="r">
              <a:lnSpc>
                <a:spcPts val="7816"/>
              </a:lnSpc>
            </a:pPr>
            <a:r>
              <a:rPr lang="en-US" sz="3190" spc="-63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4</a:t>
            </a:r>
          </a:p>
          <a:p>
            <a:pPr algn="r">
              <a:lnSpc>
                <a:spcPts val="7816"/>
              </a:lnSpc>
            </a:pPr>
            <a:r>
              <a:rPr lang="en-US" sz="3190" spc="-63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5</a:t>
            </a:r>
          </a:p>
          <a:p>
            <a:pPr algn="r">
              <a:lnSpc>
                <a:spcPts val="7816"/>
              </a:lnSpc>
            </a:pPr>
            <a:r>
              <a:rPr lang="en-US" sz="3190" spc="-63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6</a:t>
            </a:r>
          </a:p>
          <a:p>
            <a:pPr algn="r">
              <a:lnSpc>
                <a:spcPts val="7816"/>
              </a:lnSpc>
            </a:pPr>
            <a:r>
              <a:rPr lang="en-US" sz="3190" spc="-63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7</a:t>
            </a:r>
          </a:p>
          <a:p>
            <a:pPr algn="r">
              <a:lnSpc>
                <a:spcPts val="7816"/>
              </a:lnSpc>
            </a:pPr>
            <a:r>
              <a:rPr lang="en-US" sz="3190" spc="-63" dirty="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8</a:t>
            </a:r>
          </a:p>
          <a:p>
            <a:pPr algn="r">
              <a:lnSpc>
                <a:spcPts val="7816"/>
              </a:lnSpc>
            </a:pPr>
            <a:endParaRPr lang="en-US" sz="3190" spc="-63" dirty="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295435" y="3543577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8" name="AutoShape 8"/>
          <p:cNvSpPr/>
          <p:nvPr/>
        </p:nvSpPr>
        <p:spPr>
          <a:xfrm>
            <a:off x="7295435" y="4564756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>
            <a:off x="7295435" y="5583931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" name="AutoShape 10"/>
          <p:cNvSpPr/>
          <p:nvPr/>
        </p:nvSpPr>
        <p:spPr>
          <a:xfrm>
            <a:off x="7295435" y="6605110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>
            <a:off x="7295435" y="7576660"/>
            <a:ext cx="9480537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/>
          <p:nvPr/>
        </p:nvGrpSpPr>
        <p:grpSpPr>
          <a:xfrm>
            <a:off x="7295435" y="2188330"/>
            <a:ext cx="915323" cy="80965"/>
            <a:chOff x="0" y="0"/>
            <a:chExt cx="241073" cy="2132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-134731" y="7068"/>
            <a:ext cx="5964801" cy="11598223"/>
          </a:xfrm>
          <a:custGeom>
            <a:avLst/>
            <a:gdLst/>
            <a:ahLst/>
            <a:cxnLst/>
            <a:rect l="l" t="t" r="r" b="b"/>
            <a:pathLst>
              <a:path w="5964801" h="11598223">
                <a:moveTo>
                  <a:pt x="0" y="0"/>
                </a:moveTo>
                <a:lnTo>
                  <a:pt x="5964801" y="0"/>
                </a:lnTo>
                <a:lnTo>
                  <a:pt x="5964801" y="11598223"/>
                </a:lnTo>
                <a:lnTo>
                  <a:pt x="0" y="115982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6" name="Freeform 16"/>
          <p:cNvSpPr/>
          <p:nvPr/>
        </p:nvSpPr>
        <p:spPr>
          <a:xfrm>
            <a:off x="133269" y="163033"/>
            <a:ext cx="5541966" cy="9960933"/>
          </a:xfrm>
          <a:custGeom>
            <a:avLst/>
            <a:gdLst/>
            <a:ahLst/>
            <a:cxnLst/>
            <a:rect l="l" t="t" r="r" b="b"/>
            <a:pathLst>
              <a:path w="5541966" h="9960933">
                <a:moveTo>
                  <a:pt x="0" y="0"/>
                </a:moveTo>
                <a:lnTo>
                  <a:pt x="5541966" y="0"/>
                </a:lnTo>
                <a:lnTo>
                  <a:pt x="5541966" y="9960934"/>
                </a:lnTo>
                <a:lnTo>
                  <a:pt x="0" y="99609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0650" b="-10650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7" name="TextBox 17"/>
          <p:cNvSpPr txBox="1"/>
          <p:nvPr/>
        </p:nvSpPr>
        <p:spPr>
          <a:xfrm>
            <a:off x="7266860" y="1103052"/>
            <a:ext cx="6258584" cy="930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347"/>
              </a:lnSpc>
            </a:pPr>
            <a:r>
              <a:rPr lang="en-US" sz="6226" spc="940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SOMMAIRE</a:t>
            </a:r>
          </a:p>
        </p:txBody>
      </p:sp>
      <p:sp>
        <p:nvSpPr>
          <p:cNvPr id="18" name="AutoShape 18"/>
          <p:cNvSpPr/>
          <p:nvPr/>
        </p:nvSpPr>
        <p:spPr>
          <a:xfrm flipV="1">
            <a:off x="7295435" y="8512004"/>
            <a:ext cx="9478235" cy="0"/>
          </a:xfrm>
          <a:prstGeom prst="line">
            <a:avLst/>
          </a:prstGeom>
          <a:ln w="9525" cap="flat">
            <a:solidFill>
              <a:srgbClr val="002250"/>
            </a:solidFill>
            <a:prstDash val="sysDot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Box 1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2250"/>
                </a:solidFill>
                <a:latin typeface="Open Sans 1"/>
                <a:ea typeface="Open Sans 1"/>
                <a:cs typeface="Open Sans 1"/>
                <a:sym typeface="Open Sans 1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834954" y="3241756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43050" y="0"/>
            <a:ext cx="3086100" cy="2700338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620187" y="5084490"/>
            <a:ext cx="6016441" cy="5174139"/>
            <a:chOff x="0" y="0"/>
            <a:chExt cx="6350000" cy="5461000"/>
          </a:xfrm>
        </p:grpSpPr>
        <p:sp>
          <p:nvSpPr>
            <p:cNvPr id="9" name="Freeform 9"/>
            <p:cNvSpPr/>
            <p:nvPr/>
          </p:nvSpPr>
          <p:spPr>
            <a:xfrm>
              <a:off x="59563" y="32385"/>
              <a:ext cx="6230874" cy="5396230"/>
            </a:xfrm>
            <a:custGeom>
              <a:avLst/>
              <a:gdLst/>
              <a:ahLst/>
              <a:cxnLst/>
              <a:rect l="l" t="t" r="r" b="b"/>
              <a:pathLst>
                <a:path w="6230874" h="5396230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2"/>
              <a:stretch>
                <a:fillRect l="-27561" r="-3162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010100" y="-49689"/>
            <a:ext cx="5969975" cy="5134179"/>
            <a:chOff x="0" y="0"/>
            <a:chExt cx="6350000" cy="5461000"/>
          </a:xfrm>
        </p:grpSpPr>
        <p:sp>
          <p:nvSpPr>
            <p:cNvPr id="11" name="Freeform 11"/>
            <p:cNvSpPr/>
            <p:nvPr/>
          </p:nvSpPr>
          <p:spPr>
            <a:xfrm>
              <a:off x="59563" y="32385"/>
              <a:ext cx="6230874" cy="5396230"/>
            </a:xfrm>
            <a:custGeom>
              <a:avLst/>
              <a:gdLst/>
              <a:ahLst/>
              <a:cxnLst/>
              <a:rect l="l" t="t" r="r" b="b"/>
              <a:pathLst>
                <a:path w="6230874" h="5396230">
                  <a:moveTo>
                    <a:pt x="3115437" y="0"/>
                  </a:moveTo>
                  <a:lnTo>
                    <a:pt x="0" y="5396230"/>
                  </a:lnTo>
                  <a:lnTo>
                    <a:pt x="6230874" y="5396230"/>
                  </a:lnTo>
                  <a:close/>
                </a:path>
              </a:pathLst>
            </a:custGeom>
            <a:blipFill>
              <a:blip r:embed="rId3"/>
              <a:stretch>
                <a:fillRect l="-16491" r="-16491"/>
              </a:stretch>
            </a:blip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88953" y="4570714"/>
            <a:ext cx="8591118" cy="2783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7736" lvl="1" indent="-378868" algn="l">
              <a:lnSpc>
                <a:spcPts val="5615"/>
              </a:lnSpc>
              <a:buFont typeface="Arial"/>
              <a:buChar char="•"/>
            </a:pPr>
            <a:r>
              <a:rPr lang="en-US" sz="3509" spc="3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Applications mobiles éducatives</a:t>
            </a:r>
          </a:p>
          <a:p>
            <a:pPr marL="757736" lvl="1" indent="-378868" algn="l">
              <a:lnSpc>
                <a:spcPts val="5615"/>
              </a:lnSpc>
              <a:buFont typeface="Arial"/>
              <a:buChar char="•"/>
            </a:pPr>
            <a:r>
              <a:rPr lang="en-US" sz="3509" spc="3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Quiz interactif</a:t>
            </a:r>
          </a:p>
          <a:p>
            <a:pPr marL="757736" lvl="1" indent="-378868" algn="l">
              <a:lnSpc>
                <a:spcPts val="5615"/>
              </a:lnSpc>
              <a:buFont typeface="Arial"/>
              <a:buChar char="•"/>
            </a:pPr>
            <a:r>
              <a:rPr lang="en-US" sz="3509" spc="3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Objectif du projet</a:t>
            </a:r>
          </a:p>
          <a:p>
            <a:pPr algn="l">
              <a:lnSpc>
                <a:spcPts val="5615"/>
              </a:lnSpc>
            </a:pPr>
            <a:endParaRPr lang="en-US" sz="3509" spc="31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17541" y="1903298"/>
            <a:ext cx="464046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19200" y="1903298"/>
            <a:ext cx="469753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2250"/>
                </a:solidFill>
                <a:latin typeface="Open Sans 1"/>
                <a:ea typeface="Open Sans 1"/>
                <a:cs typeface="Open Sans 1"/>
                <a:sym typeface="Open Sans 1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11178" y="2658270"/>
            <a:ext cx="915323" cy="80965"/>
            <a:chOff x="0" y="0"/>
            <a:chExt cx="241073" cy="213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543050" y="0"/>
            <a:ext cx="3086100" cy="2700338"/>
            <a:chOff x="0" y="0"/>
            <a:chExt cx="812800" cy="711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 flipV="1">
            <a:off x="9144000" y="5383847"/>
            <a:ext cx="0" cy="3874453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2957723" y="6085316"/>
            <a:ext cx="2467190" cy="3221214"/>
          </a:xfrm>
          <a:custGeom>
            <a:avLst/>
            <a:gdLst/>
            <a:ahLst/>
            <a:cxnLst/>
            <a:rect l="l" t="t" r="r" b="b"/>
            <a:pathLst>
              <a:path w="2467190" h="3221214">
                <a:moveTo>
                  <a:pt x="0" y="0"/>
                </a:moveTo>
                <a:lnTo>
                  <a:pt x="2467190" y="0"/>
                </a:lnTo>
                <a:lnTo>
                  <a:pt x="2467190" y="3221215"/>
                </a:lnTo>
                <a:lnTo>
                  <a:pt x="0" y="32212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5225" r="-32856" b="-1341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0811188" y="6607111"/>
            <a:ext cx="2474504" cy="2859264"/>
          </a:xfrm>
          <a:custGeom>
            <a:avLst/>
            <a:gdLst/>
            <a:ahLst/>
            <a:cxnLst/>
            <a:rect l="l" t="t" r="r" b="b"/>
            <a:pathLst>
              <a:path w="2474504" h="2859264">
                <a:moveTo>
                  <a:pt x="0" y="0"/>
                </a:moveTo>
                <a:lnTo>
                  <a:pt x="2474504" y="0"/>
                </a:lnTo>
                <a:lnTo>
                  <a:pt x="2474504" y="2859264"/>
                </a:lnTo>
                <a:lnTo>
                  <a:pt x="0" y="2859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1554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Freeform 11"/>
          <p:cNvSpPr/>
          <p:nvPr/>
        </p:nvSpPr>
        <p:spPr>
          <a:xfrm>
            <a:off x="9385437" y="6377905"/>
            <a:ext cx="1823946" cy="3317676"/>
          </a:xfrm>
          <a:custGeom>
            <a:avLst/>
            <a:gdLst/>
            <a:ahLst/>
            <a:cxnLst/>
            <a:rect l="l" t="t" r="r" b="b"/>
            <a:pathLst>
              <a:path w="1823946" h="3317676">
                <a:moveTo>
                  <a:pt x="0" y="0"/>
                </a:moveTo>
                <a:lnTo>
                  <a:pt x="1823946" y="0"/>
                </a:lnTo>
                <a:lnTo>
                  <a:pt x="1823946" y="3317676"/>
                </a:lnTo>
                <a:lnTo>
                  <a:pt x="0" y="33176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1558" r="-10181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2" name="Freeform 12"/>
          <p:cNvSpPr/>
          <p:nvPr/>
        </p:nvSpPr>
        <p:spPr>
          <a:xfrm>
            <a:off x="15434438" y="6815187"/>
            <a:ext cx="2481050" cy="2443113"/>
          </a:xfrm>
          <a:custGeom>
            <a:avLst/>
            <a:gdLst/>
            <a:ahLst/>
            <a:cxnLst/>
            <a:rect l="l" t="t" r="r" b="b"/>
            <a:pathLst>
              <a:path w="2481050" h="2443113">
                <a:moveTo>
                  <a:pt x="0" y="0"/>
                </a:moveTo>
                <a:lnTo>
                  <a:pt x="2481050" y="0"/>
                </a:lnTo>
                <a:lnTo>
                  <a:pt x="2481050" y="2443113"/>
                </a:lnTo>
                <a:lnTo>
                  <a:pt x="0" y="24431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3" name="TextBox 13"/>
          <p:cNvSpPr txBox="1"/>
          <p:nvPr/>
        </p:nvSpPr>
        <p:spPr>
          <a:xfrm>
            <a:off x="1620477" y="2672560"/>
            <a:ext cx="6880067" cy="1527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5"/>
              </a:lnSpc>
            </a:pPr>
            <a:endParaRPr/>
          </a:p>
          <a:p>
            <a:pPr algn="l">
              <a:lnSpc>
                <a:spcPts val="4975"/>
              </a:lnSpc>
            </a:pPr>
            <a:r>
              <a:rPr lang="en-US" sz="3109" spc="29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 Application mobile Android de  quiz interactif basée sur les villes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11178" y="1951431"/>
            <a:ext cx="10521489" cy="552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365"/>
              </a:lnSpc>
            </a:pPr>
            <a:r>
              <a:rPr lang="en-US" sz="3699" b="1" spc="-73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Projet: Quiz City App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94147" y="6879382"/>
            <a:ext cx="6025465" cy="208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 spc="2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Détection automatique de la ville (GPS)</a:t>
            </a:r>
          </a:p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 spc="2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Possibilité de choix manuel</a:t>
            </a:r>
          </a:p>
          <a:p>
            <a:pPr marL="518160" lvl="1" indent="-259080" algn="ctr">
              <a:lnSpc>
                <a:spcPts val="3359"/>
              </a:lnSpc>
              <a:buFont typeface="Arial"/>
              <a:buChar char="•"/>
            </a:pPr>
            <a:r>
              <a:rPr lang="en-US" sz="2400" spc="21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Questions adaptées à chaque ville</a:t>
            </a:r>
          </a:p>
          <a:p>
            <a:pPr algn="ctr">
              <a:lnSpc>
                <a:spcPts val="3359"/>
              </a:lnSpc>
            </a:pPr>
            <a:endParaRPr lang="en-US" sz="2400" spc="21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825561" y="6072810"/>
            <a:ext cx="854075" cy="616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1"/>
              </a:lnSpc>
            </a:pPr>
            <a:r>
              <a:rPr lang="en-US" sz="2950" b="1" spc="27">
                <a:solidFill>
                  <a:srgbClr val="FFFFFF"/>
                </a:solidFill>
                <a:latin typeface="Gotham Bold"/>
                <a:ea typeface="Gotham Bold"/>
                <a:cs typeface="Gotham Bold"/>
                <a:sym typeface="Gotham Bold"/>
              </a:rPr>
              <a:t>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20477" y="5187904"/>
            <a:ext cx="3581043" cy="1099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Fonctionnement :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endParaRPr lang="en-US" sz="3200" b="1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048440" y="5086350"/>
            <a:ext cx="3264244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 spc="-64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Technologies :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3050" y="0"/>
            <a:ext cx="3086100" cy="2700338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911178" y="2858118"/>
            <a:ext cx="915323" cy="80965"/>
            <a:chOff x="0" y="0"/>
            <a:chExt cx="241073" cy="2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911178" y="1903298"/>
            <a:ext cx="723282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 du projet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43050" y="3380365"/>
            <a:ext cx="11726172" cy="5446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5"/>
              </a:lnSpc>
            </a:pPr>
            <a:r>
              <a:rPr lang="en-US" sz="3409" spc="3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• LoginActivity : gestion de connexion</a:t>
            </a:r>
          </a:p>
          <a:p>
            <a:pPr algn="l">
              <a:lnSpc>
                <a:spcPts val="5455"/>
              </a:lnSpc>
            </a:pPr>
            <a:endParaRPr lang="en-US" sz="3409" spc="3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5455"/>
              </a:lnSpc>
            </a:pPr>
            <a:r>
              <a:rPr lang="en-US" sz="3409" spc="3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• MainActivity : page principale de l’application</a:t>
            </a:r>
          </a:p>
          <a:p>
            <a:pPr algn="l">
              <a:lnSpc>
                <a:spcPts val="5455"/>
              </a:lnSpc>
            </a:pPr>
            <a:endParaRPr lang="en-US" sz="3409" spc="3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5455"/>
              </a:lnSpc>
            </a:pPr>
            <a:r>
              <a:rPr lang="en-US" sz="3409" spc="3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• QuizActivity : affichage des questions et réponses</a:t>
            </a:r>
          </a:p>
          <a:p>
            <a:pPr algn="l">
              <a:lnSpc>
                <a:spcPts val="5455"/>
              </a:lnSpc>
            </a:pPr>
            <a:endParaRPr lang="en-US" sz="3409" spc="3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  <a:p>
            <a:pPr algn="l">
              <a:lnSpc>
                <a:spcPts val="5455"/>
              </a:lnSpc>
            </a:pPr>
            <a:r>
              <a:rPr lang="en-US" sz="3409" spc="30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• ScoreActivity : affichage du score final</a:t>
            </a:r>
          </a:p>
          <a:p>
            <a:pPr algn="l">
              <a:lnSpc>
                <a:spcPts val="5455"/>
              </a:lnSpc>
            </a:pPr>
            <a:endParaRPr lang="en-US" sz="3409" spc="30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2250"/>
                </a:solidFill>
                <a:latin typeface="Open Sans 1"/>
                <a:ea typeface="Open Sans 1"/>
                <a:cs typeface="Open Sans 1"/>
                <a:sym typeface="Open Sans 1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3050" y="0"/>
            <a:ext cx="3086100" cy="2700338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3050" y="2619373"/>
            <a:ext cx="915323" cy="80965"/>
            <a:chOff x="0" y="0"/>
            <a:chExt cx="241073" cy="2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2727659" y="2700338"/>
            <a:ext cx="3567843" cy="6356958"/>
          </a:xfrm>
          <a:custGeom>
            <a:avLst/>
            <a:gdLst/>
            <a:ahLst/>
            <a:cxnLst/>
            <a:rect l="l" t="t" r="r" b="b"/>
            <a:pathLst>
              <a:path w="3567843" h="6356958">
                <a:moveTo>
                  <a:pt x="0" y="0"/>
                </a:moveTo>
                <a:lnTo>
                  <a:pt x="3567843" y="0"/>
                </a:lnTo>
                <a:lnTo>
                  <a:pt x="3567843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7795208" y="2700338"/>
            <a:ext cx="3806229" cy="6356958"/>
          </a:xfrm>
          <a:custGeom>
            <a:avLst/>
            <a:gdLst/>
            <a:ahLst/>
            <a:cxnLst/>
            <a:rect l="l" t="t" r="r" b="b"/>
            <a:pathLst>
              <a:path w="3806229" h="6356958">
                <a:moveTo>
                  <a:pt x="0" y="0"/>
                </a:moveTo>
                <a:lnTo>
                  <a:pt x="3806229" y="0"/>
                </a:lnTo>
                <a:lnTo>
                  <a:pt x="380622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2513330" y="2619373"/>
            <a:ext cx="4745970" cy="6356958"/>
          </a:xfrm>
          <a:custGeom>
            <a:avLst/>
            <a:gdLst/>
            <a:ahLst/>
            <a:cxnLst/>
            <a:rect l="l" t="t" r="r" b="b"/>
            <a:pathLst>
              <a:path w="4745970" h="6356958">
                <a:moveTo>
                  <a:pt x="0" y="0"/>
                </a:moveTo>
                <a:lnTo>
                  <a:pt x="4745970" y="0"/>
                </a:lnTo>
                <a:lnTo>
                  <a:pt x="474597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458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543050" y="1197769"/>
            <a:ext cx="1608534" cy="744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39"/>
              </a:lnSpc>
              <a:spcBef>
                <a:spcPct val="0"/>
              </a:spcBef>
            </a:pPr>
            <a:r>
              <a:rPr lang="en-US" sz="3899" b="1" spc="35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4.UML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3050" y="0"/>
            <a:ext cx="3086100" cy="2700338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71690" y="2700338"/>
            <a:ext cx="915323" cy="80965"/>
            <a:chOff x="0" y="0"/>
            <a:chExt cx="241073" cy="2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81831" y="2029571"/>
            <a:ext cx="2963932" cy="6132740"/>
          </a:xfrm>
          <a:custGeom>
            <a:avLst/>
            <a:gdLst/>
            <a:ahLst/>
            <a:cxnLst/>
            <a:rect l="l" t="t" r="r" b="b"/>
            <a:pathLst>
              <a:path w="2963932" h="6132740">
                <a:moveTo>
                  <a:pt x="0" y="0"/>
                </a:moveTo>
                <a:lnTo>
                  <a:pt x="2963932" y="0"/>
                </a:lnTo>
                <a:lnTo>
                  <a:pt x="2963932" y="6132740"/>
                </a:lnTo>
                <a:lnTo>
                  <a:pt x="0" y="613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65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9" name="Freeform 9"/>
          <p:cNvSpPr/>
          <p:nvPr/>
        </p:nvSpPr>
        <p:spPr>
          <a:xfrm>
            <a:off x="10701873" y="2029571"/>
            <a:ext cx="2916255" cy="6221160"/>
          </a:xfrm>
          <a:custGeom>
            <a:avLst/>
            <a:gdLst/>
            <a:ahLst/>
            <a:cxnLst/>
            <a:rect l="l" t="t" r="r" b="b"/>
            <a:pathLst>
              <a:path w="2916255" h="6221160">
                <a:moveTo>
                  <a:pt x="0" y="0"/>
                </a:moveTo>
                <a:lnTo>
                  <a:pt x="2916255" y="0"/>
                </a:lnTo>
                <a:lnTo>
                  <a:pt x="2916255" y="6221160"/>
                </a:lnTo>
                <a:lnTo>
                  <a:pt x="0" y="62211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82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14655903" y="2029571"/>
            <a:ext cx="2820900" cy="6218478"/>
          </a:xfrm>
          <a:custGeom>
            <a:avLst/>
            <a:gdLst/>
            <a:ahLst/>
            <a:cxnLst/>
            <a:rect l="l" t="t" r="r" b="b"/>
            <a:pathLst>
              <a:path w="2820900" h="6218478">
                <a:moveTo>
                  <a:pt x="0" y="0"/>
                </a:moveTo>
                <a:lnTo>
                  <a:pt x="2820901" y="0"/>
                </a:lnTo>
                <a:lnTo>
                  <a:pt x="2820901" y="6218478"/>
                </a:lnTo>
                <a:lnTo>
                  <a:pt x="0" y="62184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22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1690" y="1903298"/>
            <a:ext cx="723282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Réalisation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3379184"/>
            <a:ext cx="5671466" cy="362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00"/>
              </a:lnSpc>
            </a:pPr>
            <a:endParaRPr/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spc="2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Firebase Authentication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spc="2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GPS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spc="2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Quiz dynamique</a:t>
            </a:r>
          </a:p>
          <a:p>
            <a:pPr marL="647700" lvl="1" indent="-323850" algn="l">
              <a:lnSpc>
                <a:spcPts val="4800"/>
              </a:lnSpc>
              <a:buFont typeface="Arial"/>
              <a:buChar char="•"/>
            </a:pPr>
            <a:r>
              <a:rPr lang="en-US" sz="3000" spc="27">
                <a:solidFill>
                  <a:srgbClr val="002250"/>
                </a:solidFill>
                <a:latin typeface="Gotham"/>
                <a:ea typeface="Gotham"/>
                <a:cs typeface="Gotham"/>
                <a:sym typeface="Gotham"/>
              </a:rPr>
              <a:t>Score</a:t>
            </a:r>
          </a:p>
          <a:p>
            <a:pPr algn="l">
              <a:lnSpc>
                <a:spcPts val="4800"/>
              </a:lnSpc>
            </a:pPr>
            <a:endParaRPr lang="en-US" sz="3000" spc="27">
              <a:solidFill>
                <a:srgbClr val="002250"/>
              </a:solidFill>
              <a:latin typeface="Gotham"/>
              <a:ea typeface="Gotham"/>
              <a:cs typeface="Gotham"/>
              <a:sym typeface="Gotham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565138" y="8117381"/>
            <a:ext cx="1397317" cy="64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5"/>
              </a:lnSpc>
              <a:spcBef>
                <a:spcPct val="0"/>
              </a:spcBef>
            </a:pPr>
            <a:r>
              <a:rPr lang="en-US" sz="3409" b="1" spc="30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Login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579095" y="8117381"/>
            <a:ext cx="1161812" cy="64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5"/>
              </a:lnSpc>
              <a:spcBef>
                <a:spcPct val="0"/>
              </a:spcBef>
            </a:pPr>
            <a:r>
              <a:rPr lang="en-US" sz="3409" b="1" spc="30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Quiz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364568" y="8117381"/>
            <a:ext cx="1398627" cy="645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5"/>
              </a:lnSpc>
              <a:spcBef>
                <a:spcPct val="0"/>
              </a:spcBef>
            </a:pPr>
            <a:r>
              <a:rPr lang="en-US" sz="3409" b="1" spc="30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Score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2250"/>
                </a:solidFill>
                <a:latin typeface="Open Sans 1"/>
                <a:ea typeface="Open Sans 1"/>
                <a:cs typeface="Open Sans 1"/>
                <a:sym typeface="Open Sans 1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43050" y="0"/>
            <a:ext cx="3086100" cy="2700338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225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7000" y="12700"/>
              <a:ext cx="558800" cy="3683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871690" y="2700338"/>
            <a:ext cx="915323" cy="80965"/>
            <a:chOff x="0" y="0"/>
            <a:chExt cx="241073" cy="2132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073" cy="21324"/>
            </a:xfrm>
            <a:custGeom>
              <a:avLst/>
              <a:gdLst/>
              <a:ahLst/>
              <a:cxnLst/>
              <a:rect l="l" t="t" r="r" b="b"/>
              <a:pathLst>
                <a:path w="241073" h="21324">
                  <a:moveTo>
                    <a:pt x="0" y="0"/>
                  </a:moveTo>
                  <a:lnTo>
                    <a:pt x="241073" y="0"/>
                  </a:lnTo>
                  <a:lnTo>
                    <a:pt x="241073" y="21324"/>
                  </a:lnTo>
                  <a:lnTo>
                    <a:pt x="0" y="21324"/>
                  </a:lnTo>
                  <a:close/>
                </a:path>
              </a:pathLst>
            </a:custGeom>
            <a:solidFill>
              <a:srgbClr val="B38C77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41073" cy="594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19200" y="1903298"/>
            <a:ext cx="652490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71690" y="1903298"/>
            <a:ext cx="7232822" cy="58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01"/>
              </a:lnSpc>
            </a:pPr>
            <a:r>
              <a:rPr lang="en-US" sz="3899" b="1" spc="-77">
                <a:solidFill>
                  <a:srgbClr val="00225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29738" y="4058173"/>
            <a:ext cx="8749549" cy="301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00"/>
              </a:lnSpc>
            </a:pPr>
            <a:r>
              <a:rPr lang="en-US" sz="3000" b="1" spc="27">
                <a:solidFill>
                  <a:srgbClr val="002250"/>
                </a:solidFill>
                <a:latin typeface="Gotham Bold"/>
                <a:ea typeface="Gotham Bold"/>
                <a:cs typeface="Gotham Bold"/>
                <a:sym typeface="Gotham Bold"/>
              </a:rPr>
              <a:t>En conclusion, mon projet est réussi. J’ai développé une application fonctionnelle avec Firebase et GPS, et elle peut être améliorée dans le futur.</a:t>
            </a:r>
          </a:p>
          <a:p>
            <a:pPr algn="ctr">
              <a:lnSpc>
                <a:spcPts val="4800"/>
              </a:lnSpc>
            </a:pPr>
            <a:endParaRPr lang="en-US" sz="3000" b="1" spc="27">
              <a:solidFill>
                <a:srgbClr val="00225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7189626" y="9210675"/>
            <a:ext cx="641174" cy="335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002250"/>
                </a:solidFill>
                <a:latin typeface="Open Sans 1"/>
                <a:ea typeface="Open Sans 1"/>
                <a:cs typeface="Open Sans 1"/>
                <a:sym typeface="Open Sans 1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909840" y="4180839"/>
            <a:ext cx="8468320" cy="1820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  <a:spcBef>
                <a:spcPct val="0"/>
              </a:spcBef>
            </a:pPr>
            <a:r>
              <a:rPr lang="en-US" sz="5199" b="1" spc="-103">
                <a:solidFill>
                  <a:srgbClr val="000000"/>
                </a:solidFill>
                <a:latin typeface="Gotham Bold"/>
                <a:ea typeface="Gotham Bold"/>
                <a:cs typeface="Gotham Bold"/>
                <a:sym typeface="Gotham Bold"/>
              </a:rPr>
              <a:t>Merci pour votre attention</a:t>
            </a:r>
          </a:p>
          <a:p>
            <a:pPr algn="ctr">
              <a:lnSpc>
                <a:spcPts val="7279"/>
              </a:lnSpc>
              <a:spcBef>
                <a:spcPct val="0"/>
              </a:spcBef>
            </a:pPr>
            <a:endParaRPr lang="en-US" sz="5199" b="1" spc="-103">
              <a:solidFill>
                <a:srgbClr val="000000"/>
              </a:solidFill>
              <a:latin typeface="Gotham Bold"/>
              <a:ea typeface="Gotham Bold"/>
              <a:cs typeface="Gotham Bold"/>
              <a:sym typeface="Gotham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1475</TotalTime>
  <Words>180</Words>
  <Application>Microsoft Office PowerPoint</Application>
  <PresentationFormat>Personnalisé</PresentationFormat>
  <Paragraphs>69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9" baseType="lpstr">
      <vt:lpstr>Open Sans 1 Bold</vt:lpstr>
      <vt:lpstr>Gotham</vt:lpstr>
      <vt:lpstr>Gotham Bold</vt:lpstr>
      <vt:lpstr>Arial</vt:lpstr>
      <vt:lpstr>Jaturat Bold</vt:lpstr>
      <vt:lpstr>Open Sans 2 Bold</vt:lpstr>
      <vt:lpstr>Open Sans 1</vt:lpstr>
      <vt:lpstr>Calibri</vt:lpstr>
      <vt:lpstr>League Spartan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.</dc:title>
  <cp:lastModifiedBy>Mohamed Elalami</cp:lastModifiedBy>
  <cp:revision>3</cp:revision>
  <dcterms:created xsi:type="dcterms:W3CDTF">2006-08-16T00:00:00Z</dcterms:created>
  <dcterms:modified xsi:type="dcterms:W3CDTF">2026-05-20T22:37:49Z</dcterms:modified>
  <dc:identifier>DAHJHHD0yKU</dc:identifier>
</cp:coreProperties>
</file>